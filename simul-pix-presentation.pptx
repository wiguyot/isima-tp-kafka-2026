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6" r:id="rId10"/>
    <p:sldId id="267" r:id="rId11"/>
    <p:sldId id="269" r:id="rId12"/>
    <p:sldId id="264" r:id="rId13"/>
    <p:sldId id="265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40"/>
    <p:restoredTop sz="96450"/>
  </p:normalViewPr>
  <p:slideViewPr>
    <p:cSldViewPr snapToGrid="0" snapToObjects="1">
      <p:cViewPr varScale="1">
        <p:scale>
          <a:sx n="151" d="100"/>
          <a:sy n="151" d="100"/>
        </p:scale>
        <p:origin x="232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CFE8C-CBDD-E44C-9987-CD02228D7824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77D63-A39F-F74B-8A8B-BF923F7C8F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34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7D63-A39F-F74B-8A8B-BF923F7C8FA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6871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1545" y="2199578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 dirty="0">
                <a:solidFill>
                  <a:srgbClr val="FFFFFF"/>
                </a:solidFill>
              </a:rPr>
              <a:t>Simul-Pix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545" y="363474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E8602C"/>
                </a:solidFill>
              </a:rPr>
              <a:t>Un </a:t>
            </a:r>
            <a:r>
              <a:rPr sz="2200" b="0" i="0" dirty="0" err="1">
                <a:solidFill>
                  <a:srgbClr val="E8602C"/>
                </a:solidFill>
              </a:rPr>
              <a:t>laboratoire</a:t>
            </a:r>
            <a:r>
              <a:rPr sz="2200" b="0" i="0" dirty="0">
                <a:solidFill>
                  <a:srgbClr val="E8602C"/>
                </a:solidFill>
              </a:rPr>
              <a:t> Kafka pour </a:t>
            </a:r>
            <a:r>
              <a:rPr sz="2200" b="0" i="0" dirty="0" err="1">
                <a:solidFill>
                  <a:srgbClr val="E8602C"/>
                </a:solidFill>
              </a:rPr>
              <a:t>l'enseignement</a:t>
            </a:r>
            <a:r>
              <a:rPr sz="2200" b="0" i="0" dirty="0">
                <a:solidFill>
                  <a:srgbClr val="E8602C"/>
                </a:solidFill>
              </a:rPr>
              <a:t>
des pipelines de </a:t>
            </a:r>
            <a:r>
              <a:rPr sz="2200" b="0" i="0" dirty="0" err="1">
                <a:solidFill>
                  <a:srgbClr val="E8602C"/>
                </a:solidFill>
              </a:rPr>
              <a:t>paiement</a:t>
            </a:r>
            <a:r>
              <a:rPr sz="2200" b="0" i="0" dirty="0">
                <a:solidFill>
                  <a:srgbClr val="E8602C"/>
                </a:solidFill>
              </a:rPr>
              <a:t> temps </a:t>
            </a:r>
            <a:r>
              <a:rPr sz="2200" b="0" i="0" dirty="0" err="1">
                <a:solidFill>
                  <a:srgbClr val="E8602C"/>
                </a:solidFill>
              </a:rPr>
              <a:t>réel</a:t>
            </a:r>
            <a:endParaRPr sz="2200" b="0" i="0" dirty="0">
              <a:solidFill>
                <a:srgbClr val="E8602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1545" y="50977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AAAABB"/>
                </a:solidFill>
              </a:rPr>
              <a:t>Support </a:t>
            </a:r>
            <a:r>
              <a:rPr sz="1400" b="0" i="1" dirty="0" err="1">
                <a:solidFill>
                  <a:srgbClr val="AAAABB"/>
                </a:solidFill>
              </a:rPr>
              <a:t>pédagogique</a:t>
            </a:r>
            <a:r>
              <a:rPr sz="1400" b="0" i="1" dirty="0">
                <a:solidFill>
                  <a:srgbClr val="AAAABB"/>
                </a:solidFill>
              </a:rPr>
              <a:t> · Apache Kafka · Simulation de </a:t>
            </a:r>
            <a:r>
              <a:rPr sz="1400" b="0" i="1" dirty="0" err="1">
                <a:solidFill>
                  <a:srgbClr val="AAAABB"/>
                </a:solidFill>
              </a:rPr>
              <a:t>paiements</a:t>
            </a:r>
            <a:r>
              <a:rPr sz="1400" b="0" i="1" dirty="0">
                <a:solidFill>
                  <a:srgbClr val="AAAABB"/>
                </a:solidFill>
              </a:rPr>
              <a:t> Pix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72D43FE-48AF-5B6B-F008-A4287936A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883" y="0"/>
            <a:ext cx="7227942" cy="2071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Pourquoi Simul-Pix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Kafka est abstrait — un cas concret change tout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45720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02C"/>
                </a:solidFill>
              </a:rPr>
              <a:t>Le problème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Kafka difficile à appréhender sans cas réel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Offset, lag, partition restent flous en théorie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Les garanties de livraison : souvent mal comprises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Besoin d'un terrain observable et réinitialisable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303520" cy="45720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5029200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8602C"/>
                </a:solidFill>
              </a:rPr>
              <a:t>La solution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Pipeline de </a:t>
            </a:r>
            <a:r>
              <a:rPr sz="1400" dirty="0" err="1">
                <a:solidFill>
                  <a:srgbClr val="FFFFFF"/>
                </a:solidFill>
              </a:rPr>
              <a:t>paiements</a:t>
            </a:r>
            <a:r>
              <a:rPr sz="1400" dirty="0">
                <a:solidFill>
                  <a:srgbClr val="FFFFFF"/>
                </a:solidFill>
              </a:rPr>
              <a:t> Pix </a:t>
            </a:r>
            <a:r>
              <a:rPr sz="1400" dirty="0" err="1">
                <a:solidFill>
                  <a:srgbClr val="FFFFFF"/>
                </a:solidFill>
              </a:rPr>
              <a:t>brésilien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simulé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Kafka </a:t>
            </a:r>
            <a:r>
              <a:rPr sz="1400" dirty="0" err="1">
                <a:solidFill>
                  <a:srgbClr val="FFFFFF"/>
                </a:solidFill>
              </a:rPr>
              <a:t>comme</a:t>
            </a:r>
            <a:r>
              <a:rPr sz="1400" dirty="0">
                <a:solidFill>
                  <a:srgbClr val="FFFFFF"/>
                </a:solidFill>
              </a:rPr>
              <a:t> couche centrale </a:t>
            </a:r>
            <a:r>
              <a:rPr lang="fr-FR" sz="1400" dirty="0">
                <a:solidFill>
                  <a:srgbClr val="FFFFFF"/>
                </a:solidFill>
              </a:rPr>
              <a:t>plus observabilité </a:t>
            </a:r>
            <a:r>
              <a:rPr sz="1400" dirty="0" err="1">
                <a:solidFill>
                  <a:srgbClr val="FFFFFF"/>
                </a:solidFill>
              </a:rPr>
              <a:t>en</a:t>
            </a:r>
            <a:r>
              <a:rPr sz="1400" dirty="0">
                <a:solidFill>
                  <a:srgbClr val="FFFFFF"/>
                </a:solidFill>
              </a:rPr>
              <a:t> temps </a:t>
            </a:r>
            <a:r>
              <a:rPr sz="1400" dirty="0" err="1">
                <a:solidFill>
                  <a:srgbClr val="FFFFFF"/>
                </a:solidFill>
              </a:rPr>
              <a:t>réel</a:t>
            </a:r>
            <a:r>
              <a:rPr sz="1400" dirty="0">
                <a:solidFill>
                  <a:srgbClr val="FFFFFF"/>
                </a:solidFill>
              </a:rPr>
              <a:t> (Grafana + </a:t>
            </a:r>
            <a:r>
              <a:rPr sz="1400" dirty="0" err="1">
                <a:solidFill>
                  <a:srgbClr val="FFFFFF"/>
                </a:solidFill>
              </a:rPr>
              <a:t>météo</a:t>
            </a:r>
            <a:r>
              <a:rPr sz="1400" dirty="0">
                <a:solidFill>
                  <a:srgbClr val="FFFFFF"/>
                </a:solidFill>
              </a:rPr>
              <a:t> web)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Démarrage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en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une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commande</a:t>
            </a:r>
            <a:r>
              <a:rPr sz="1400" dirty="0">
                <a:solidFill>
                  <a:srgbClr val="FFFFFF"/>
                </a:solidFill>
              </a:rPr>
              <a:t>, reset </a:t>
            </a:r>
            <a:r>
              <a:rPr sz="1400" dirty="0" err="1">
                <a:solidFill>
                  <a:srgbClr val="FFFFFF"/>
                </a:solidFill>
              </a:rPr>
              <a:t>en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une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autre</a:t>
            </a:r>
            <a:endParaRPr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Architecture du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Kafka au centre de chaque étape — de l'émission à la persistance</a:t>
            </a:r>
          </a:p>
        </p:txBody>
      </p:sp>
      <p:pic>
        <p:nvPicPr>
          <p:cNvPr id="6" name="Picture 5" descr="organigramme-circulation-p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12471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Ce que l'étudiant voit et manipule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Deux interfaces web — météo des services &amp; pilotage des scénarios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7616" y="1371600"/>
            <a:ext cx="4947781" cy="4114800"/>
          </a:xfrm>
          <a:prstGeom prst="rect">
            <a:avLst/>
          </a:prstGeom>
          <a:solidFill>
            <a:srgbClr val="2A2A40"/>
          </a:solidFill>
          <a:ln w="1905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31089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BB"/>
                </a:solidFill>
              </a:rPr>
              <a:t>Météo des services
localhost:8082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577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AABB"/>
                </a:solidFill>
              </a:rPr>
              <a:t>Vue temps réel de l'état de chaque service et topic Kafka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7606" y="228601"/>
            <a:ext cx="4574252" cy="5414374"/>
          </a:xfrm>
          <a:prstGeom prst="rect">
            <a:avLst/>
          </a:prstGeom>
          <a:solidFill>
            <a:srgbClr val="2A2A40"/>
          </a:solidFill>
          <a:ln w="1905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31089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BB"/>
                </a:solidFill>
              </a:rPr>
              <a:t>Pilotage des scénarios
localhost:8083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577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AABB"/>
                </a:solidFill>
              </a:rPr>
              <a:t>Lancement des scénarios, paramétrage et reset</a:t>
            </a:r>
          </a:p>
        </p:txBody>
      </p:sp>
      <p:pic>
        <p:nvPicPr>
          <p:cNvPr id="13" name="Image 1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799FE28-981C-1F36-A076-753126D7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24" y="1404970"/>
            <a:ext cx="4715512" cy="4048059"/>
          </a:xfrm>
          <a:prstGeom prst="rect">
            <a:avLst/>
          </a:prstGeom>
        </p:spPr>
      </p:pic>
      <p:pic>
        <p:nvPicPr>
          <p:cNvPr id="15" name="Image 1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ED2CC9D-7A13-52E1-2BA5-0E233BB7A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664" y="284510"/>
            <a:ext cx="4396136" cy="5302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scénarios pédagogiques progressifs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Du flux nominal au pic de charge — chaque scénario révèle quelque chose de nouveau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804672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1  Nominal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Flux valide de bout en bout, pipeline sans incident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5394960" cy="804672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2  Erreurs métier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8653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Rejets explicites, routage vers le topic rejected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32304"/>
            <a:ext cx="5394960" cy="804672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4780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3  Consumer 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Ralentissement consommateur, backlog Kafka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432304"/>
            <a:ext cx="5394960" cy="804672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24780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4  Replication 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834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Arrêt d'un broker, retard de réplication observable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01568"/>
            <a:ext cx="5394960" cy="804672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447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5  Football peak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039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44 000 × 10 matchs, pic compressé dans le temps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401568"/>
            <a:ext cx="5394960" cy="804672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3447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6  Perturbation réseau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8039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Latence / perte de paquets sur lien Kafka ciblé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Sémantiques d'écriture — côté producteur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Quel compromis entre performance et garantie de livraison 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566160" cy="4480560"/>
          </a:xfrm>
          <a:prstGeom prst="rect">
            <a:avLst/>
          </a:prstGeom>
          <a:solidFill>
            <a:srgbClr val="2A2A40"/>
          </a:solidFill>
          <a:ln w="2540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BB"/>
                </a:solidFill>
              </a:rPr>
              <a:t>At-most-once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AABB"/>
                </a:solidFill>
              </a:rPr>
              <a:t>acks=0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Aucun accusé de réception attendu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6440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Débit maximal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14216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Perte de messages possible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6402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Usage : logs non critiques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463040"/>
            <a:ext cx="3566160" cy="4480560"/>
          </a:xfrm>
          <a:prstGeom prst="rect">
            <a:avLst/>
          </a:prstGeom>
          <a:solidFill>
            <a:srgbClr val="2A2A40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90D9"/>
                </a:solidFill>
              </a:rPr>
              <a:t>At-least-once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57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AABB"/>
                </a:solidFill>
              </a:rPr>
              <a:t>acks=all + retries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51460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Accusé de toutes les répliques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26440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Aucune perte garantie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014216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Doublons possibles en cas de retry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76402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Usage : défaut dans Simul-Pix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3336" y="1463040"/>
            <a:ext cx="3566160" cy="4480560"/>
          </a:xfrm>
          <a:prstGeom prst="rect">
            <a:avLst/>
          </a:prstGeom>
          <a:solidFill>
            <a:srgbClr val="2A2A40"/>
          </a:solidFill>
          <a:ln w="2540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0496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02C"/>
                </a:solidFill>
              </a:rPr>
              <a:t>Exactly-once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2057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AABB"/>
                </a:solidFill>
              </a:rPr>
              <a:t>transactions Kafka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251460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Producteur transactionnel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326440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Pas de perte, pas de doublon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6216" y="4014216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Coût en latence et complexité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4764024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 Usage : atelier sémantique dédié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Sémantiques de lecture — côté consommateur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Quand committer l'offset change radicalement ce que Kafka garantit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521440" cy="1463040"/>
          </a:xfrm>
          <a:prstGeom prst="rect">
            <a:avLst/>
          </a:prstGeom>
          <a:solidFill>
            <a:srgbClr val="2A2A40"/>
          </a:solidFill>
          <a:ln w="2540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AAABB"/>
                </a:solidFill>
              </a:rPr>
              <a:t>Commit avant traitement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BB"/>
                </a:solidFill>
              </a:rPr>
              <a:t>→ at-most-once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0020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L'offset est validé avant que le traitement ne réussisse.
Si le service plante après le commit, le message est perdu définitivement.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35808"/>
            <a:ext cx="11521440" cy="1463040"/>
          </a:xfrm>
          <a:prstGeom prst="rect">
            <a:avLst/>
          </a:prstGeom>
          <a:solidFill>
            <a:srgbClr val="2A2A40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1272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0D9"/>
                </a:solidFill>
              </a:rPr>
              <a:t>Commit après traitement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301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BB"/>
                </a:solidFill>
              </a:rPr>
              <a:t>→ at-least-once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172968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L'offset est validé seulement après succès du traitement.
En cas de crash entre traitement et commit, le message est relu — risque de doublon.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08576"/>
            <a:ext cx="11521440" cy="1463040"/>
          </a:xfrm>
          <a:prstGeom prst="rect">
            <a:avLst/>
          </a:prstGeom>
          <a:solidFill>
            <a:srgbClr val="2A2A40"/>
          </a:solidFill>
          <a:ln w="2540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7000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02C"/>
                </a:solidFill>
              </a:rPr>
              <a:t>Offset dans la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02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BB"/>
                </a:solidFill>
              </a:rPr>
              <a:t>→ exactly-once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745736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Le commit d'offset fait partie de la transaction Kafka.
Ni perte ni doublon, même sous incident réseau ou redémarrage du consommateur.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ED176-94E4-A582-1BC8-E5F57484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937078-6888-CE41-202D-826A31E9A14F}"/>
              </a:ext>
            </a:extLst>
          </p:cNvPr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8DA8FB-72C8-CB29-CC9C-90F24C132CF0}"/>
              </a:ext>
            </a:extLst>
          </p:cNvPr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1C4FE-E890-C92C-9884-6624A5168D54}"/>
              </a:ext>
            </a:extLst>
          </p:cNvPr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Observer l'impact en temps réel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ACB38-7999-2D17-B8CD-CE81A209CD15}"/>
              </a:ext>
            </a:extLst>
          </p:cNvPr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Grafana expose tout — lag, débit, latence, taux de rejet, réplication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EA22DC-7853-0D40-9D97-A9FF248885C9}"/>
              </a:ext>
            </a:extLst>
          </p:cNvPr>
          <p:cNvSpPr/>
          <p:nvPr/>
        </p:nvSpPr>
        <p:spPr>
          <a:xfrm>
            <a:off x="501040" y="1371600"/>
            <a:ext cx="7452987" cy="4892040"/>
          </a:xfrm>
          <a:prstGeom prst="rect">
            <a:avLst/>
          </a:prstGeom>
          <a:solidFill>
            <a:srgbClr val="2A2A40"/>
          </a:solidFill>
          <a:ln w="1905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369E6-FF2C-5B77-E1EB-817452D402E7}"/>
              </a:ext>
            </a:extLst>
          </p:cNvPr>
          <p:cNvSpPr txBox="1"/>
          <p:nvPr/>
        </p:nvSpPr>
        <p:spPr>
          <a:xfrm>
            <a:off x="365760" y="34975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BB"/>
                </a:solidFill>
              </a:rPr>
              <a:t>Dashboard Grafana
General / Kafka / Persistence / Incidents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D15B2-5BBA-73E8-9270-D3610C3D9CD5}"/>
              </a:ext>
            </a:extLst>
          </p:cNvPr>
          <p:cNvSpPr txBox="1"/>
          <p:nvPr/>
        </p:nvSpPr>
        <p:spPr>
          <a:xfrm>
            <a:off x="8503920" y="1463040"/>
            <a:ext cx="3474720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600" b="1" dirty="0">
                <a:solidFill>
                  <a:srgbClr val="E8602C"/>
                </a:solidFill>
              </a:rPr>
              <a:t>General </a:t>
            </a:r>
            <a:r>
              <a:rPr lang="fr-FR" sz="1600" b="1" dirty="0" err="1">
                <a:solidFill>
                  <a:srgbClr val="E8602C"/>
                </a:solidFill>
              </a:rPr>
              <a:t>dashboard</a:t>
            </a:r>
            <a:endParaRPr sz="1600" b="1" dirty="0">
              <a:solidFill>
                <a:srgbClr val="E8602C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Lag </a:t>
            </a:r>
            <a:r>
              <a:rPr sz="1400" dirty="0" err="1">
                <a:solidFill>
                  <a:srgbClr val="FFFFFF"/>
                </a:solidFill>
              </a:rPr>
              <a:t>consommateur</a:t>
            </a:r>
            <a:r>
              <a:rPr sz="1400" dirty="0">
                <a:solidFill>
                  <a:srgbClr val="FFFFFF"/>
                </a:solidFill>
              </a:rPr>
              <a:t> par </a:t>
            </a:r>
            <a:r>
              <a:rPr sz="1400" dirty="0" err="1">
                <a:solidFill>
                  <a:srgbClr val="FFFFFF"/>
                </a:solidFill>
              </a:rPr>
              <a:t>groupe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Débit</a:t>
            </a:r>
            <a:r>
              <a:rPr sz="1400" dirty="0">
                <a:solidFill>
                  <a:srgbClr val="FFFFFF"/>
                </a:solidFill>
              </a:rPr>
              <a:t> production / </a:t>
            </a:r>
            <a:r>
              <a:rPr sz="1400" dirty="0" err="1">
                <a:solidFill>
                  <a:srgbClr val="FFFFFF"/>
                </a:solidFill>
              </a:rPr>
              <a:t>consommation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Latence</a:t>
            </a:r>
            <a:r>
              <a:rPr sz="1400" dirty="0">
                <a:solidFill>
                  <a:srgbClr val="FFFFFF"/>
                </a:solidFill>
              </a:rPr>
              <a:t> bout </a:t>
            </a:r>
            <a:r>
              <a:rPr sz="1400" dirty="0" err="1">
                <a:solidFill>
                  <a:srgbClr val="FFFFFF"/>
                </a:solidFill>
              </a:rPr>
              <a:t>en</a:t>
            </a:r>
            <a:r>
              <a:rPr sz="1400" dirty="0">
                <a:solidFill>
                  <a:srgbClr val="FFFFFF"/>
                </a:solidFill>
              </a:rPr>
              <a:t> bout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Taux</a:t>
            </a:r>
            <a:r>
              <a:rPr sz="1400" dirty="0">
                <a:solidFill>
                  <a:srgbClr val="FFFFFF"/>
                </a:solidFill>
              </a:rPr>
              <a:t> de </a:t>
            </a:r>
            <a:r>
              <a:rPr sz="1400" dirty="0" err="1">
                <a:solidFill>
                  <a:srgbClr val="FFFFFF"/>
                </a:solidFill>
              </a:rPr>
              <a:t>rejet</a:t>
            </a:r>
            <a:r>
              <a:rPr sz="1400" dirty="0">
                <a:solidFill>
                  <a:srgbClr val="FFFFFF"/>
                </a:solidFill>
              </a:rPr>
              <a:t> et motifs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Retard de </a:t>
            </a:r>
            <a:r>
              <a:rPr sz="1400" dirty="0" err="1">
                <a:solidFill>
                  <a:srgbClr val="FFFFFF"/>
                </a:solidFill>
              </a:rPr>
              <a:t>réplication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Fraîcheur</a:t>
            </a:r>
            <a:r>
              <a:rPr sz="1400" dirty="0">
                <a:solidFill>
                  <a:srgbClr val="FFFFFF"/>
                </a:solidFill>
              </a:rPr>
              <a:t> des </a:t>
            </a:r>
            <a:r>
              <a:rPr sz="1400" dirty="0" err="1">
                <a:solidFill>
                  <a:srgbClr val="FFFFFF"/>
                </a:solidFill>
              </a:rPr>
              <a:t>écritures</a:t>
            </a:r>
            <a:r>
              <a:rPr sz="1400" dirty="0">
                <a:solidFill>
                  <a:srgbClr val="FFFFFF"/>
                </a:solidFill>
              </a:rPr>
              <a:t> PostgreSQL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Ancienneté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estimée</a:t>
            </a:r>
            <a:r>
              <a:rPr sz="1400" dirty="0">
                <a:solidFill>
                  <a:srgbClr val="FFFFFF"/>
                </a:solidFill>
              </a:rPr>
              <a:t> du backlog</a:t>
            </a:r>
          </a:p>
        </p:txBody>
      </p:sp>
      <p:pic>
        <p:nvPicPr>
          <p:cNvPr id="10" name="Image 9" descr="Une image contenant texte, capture d’écran, Police, tableau&#10;&#10;Le contenu généré par l’IA peut être incorrect.">
            <a:extLst>
              <a:ext uri="{FF2B5EF4-FFF2-40B4-BE49-F238E27FC236}">
                <a16:creationId xmlns:a16="http://schemas.microsoft.com/office/drawing/2014/main" id="{C77E9E76-1956-8572-76B2-A73A036C1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88" y="1428795"/>
            <a:ext cx="7350273" cy="483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64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158D-E428-87CF-D3E6-C026885F8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B3203E-50F5-5BCD-654A-8E1E940D719C}"/>
              </a:ext>
            </a:extLst>
          </p:cNvPr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1420E2-D3E1-72E8-E0B3-4344BB45BDA4}"/>
              </a:ext>
            </a:extLst>
          </p:cNvPr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DD610-5507-7CC4-617D-0CD8629A2147}"/>
              </a:ext>
            </a:extLst>
          </p:cNvPr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Observer l'impact en temps réel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BF827-5A7A-4FC1-B10C-C322555BB386}"/>
              </a:ext>
            </a:extLst>
          </p:cNvPr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Grafana expose tout — lag, débit, latence, taux de rejet, réplication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332BF-CB62-5B11-5188-7715687B8CFA}"/>
              </a:ext>
            </a:extLst>
          </p:cNvPr>
          <p:cNvSpPr/>
          <p:nvPr/>
        </p:nvSpPr>
        <p:spPr>
          <a:xfrm>
            <a:off x="457199" y="1221287"/>
            <a:ext cx="7863840" cy="5336087"/>
          </a:xfrm>
          <a:prstGeom prst="rect">
            <a:avLst/>
          </a:prstGeom>
          <a:solidFill>
            <a:srgbClr val="2A2A40"/>
          </a:solidFill>
          <a:ln w="1905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78A94-6468-078B-F2E9-54E8A27EFEC4}"/>
              </a:ext>
            </a:extLst>
          </p:cNvPr>
          <p:cNvSpPr txBox="1"/>
          <p:nvPr/>
        </p:nvSpPr>
        <p:spPr>
          <a:xfrm>
            <a:off x="365760" y="34975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BB"/>
                </a:solidFill>
              </a:rPr>
              <a:t>Dashboard Grafana
General / Kafka / Persistence / Incidents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D761A-EB91-735A-9660-678EB65B40CC}"/>
              </a:ext>
            </a:extLst>
          </p:cNvPr>
          <p:cNvSpPr txBox="1"/>
          <p:nvPr/>
        </p:nvSpPr>
        <p:spPr>
          <a:xfrm>
            <a:off x="8503920" y="1463040"/>
            <a:ext cx="3474720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600" b="1" dirty="0">
                <a:solidFill>
                  <a:srgbClr val="E8602C"/>
                </a:solidFill>
              </a:rPr>
              <a:t>Kafka </a:t>
            </a:r>
            <a:r>
              <a:rPr lang="fr-FR" sz="1600" b="1" dirty="0" err="1">
                <a:solidFill>
                  <a:srgbClr val="E8602C"/>
                </a:solidFill>
              </a:rPr>
              <a:t>dashboard</a:t>
            </a:r>
            <a:endParaRPr sz="1600" b="1" dirty="0">
              <a:solidFill>
                <a:srgbClr val="E8602C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Lag </a:t>
            </a:r>
            <a:r>
              <a:rPr sz="1400" dirty="0" err="1">
                <a:solidFill>
                  <a:srgbClr val="FFFFFF"/>
                </a:solidFill>
              </a:rPr>
              <a:t>consommateur</a:t>
            </a:r>
            <a:r>
              <a:rPr sz="1400" dirty="0">
                <a:solidFill>
                  <a:srgbClr val="FFFFFF"/>
                </a:solidFill>
              </a:rPr>
              <a:t> par </a:t>
            </a:r>
            <a:r>
              <a:rPr sz="1400" dirty="0" err="1">
                <a:solidFill>
                  <a:srgbClr val="FFFFFF"/>
                </a:solidFill>
              </a:rPr>
              <a:t>groupe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Débit</a:t>
            </a:r>
            <a:r>
              <a:rPr sz="1400" dirty="0">
                <a:solidFill>
                  <a:srgbClr val="FFFFFF"/>
                </a:solidFill>
              </a:rPr>
              <a:t> production / </a:t>
            </a:r>
            <a:r>
              <a:rPr sz="1400" dirty="0" err="1">
                <a:solidFill>
                  <a:srgbClr val="FFFFFF"/>
                </a:solidFill>
              </a:rPr>
              <a:t>consommation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Latence</a:t>
            </a:r>
            <a:r>
              <a:rPr sz="1400" dirty="0">
                <a:solidFill>
                  <a:srgbClr val="FFFFFF"/>
                </a:solidFill>
              </a:rPr>
              <a:t> bout </a:t>
            </a:r>
            <a:r>
              <a:rPr sz="1400" dirty="0" err="1">
                <a:solidFill>
                  <a:srgbClr val="FFFFFF"/>
                </a:solidFill>
              </a:rPr>
              <a:t>en</a:t>
            </a:r>
            <a:r>
              <a:rPr sz="1400" dirty="0">
                <a:solidFill>
                  <a:srgbClr val="FFFFFF"/>
                </a:solidFill>
              </a:rPr>
              <a:t> bout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Taux</a:t>
            </a:r>
            <a:r>
              <a:rPr sz="1400" dirty="0">
                <a:solidFill>
                  <a:srgbClr val="FFFFFF"/>
                </a:solidFill>
              </a:rPr>
              <a:t> de </a:t>
            </a:r>
            <a:r>
              <a:rPr sz="1400" dirty="0" err="1">
                <a:solidFill>
                  <a:srgbClr val="FFFFFF"/>
                </a:solidFill>
              </a:rPr>
              <a:t>rejet</a:t>
            </a:r>
            <a:r>
              <a:rPr sz="1400" dirty="0">
                <a:solidFill>
                  <a:srgbClr val="FFFFFF"/>
                </a:solidFill>
              </a:rPr>
              <a:t> et motifs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Retard de </a:t>
            </a:r>
            <a:r>
              <a:rPr sz="1400" dirty="0" err="1">
                <a:solidFill>
                  <a:srgbClr val="FFFFFF"/>
                </a:solidFill>
              </a:rPr>
              <a:t>réplication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Fraîcheur</a:t>
            </a:r>
            <a:r>
              <a:rPr sz="1400" dirty="0">
                <a:solidFill>
                  <a:srgbClr val="FFFFFF"/>
                </a:solidFill>
              </a:rPr>
              <a:t> des </a:t>
            </a:r>
            <a:r>
              <a:rPr sz="1400" dirty="0" err="1">
                <a:solidFill>
                  <a:srgbClr val="FFFFFF"/>
                </a:solidFill>
              </a:rPr>
              <a:t>écritures</a:t>
            </a:r>
            <a:r>
              <a:rPr sz="1400" dirty="0">
                <a:solidFill>
                  <a:srgbClr val="FFFFFF"/>
                </a:solidFill>
              </a:rPr>
              <a:t> PostgreSQL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Ancienneté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estimée</a:t>
            </a:r>
            <a:r>
              <a:rPr sz="1400" dirty="0">
                <a:solidFill>
                  <a:srgbClr val="FFFFFF"/>
                </a:solidFill>
              </a:rPr>
              <a:t> du backlog</a:t>
            </a:r>
          </a:p>
        </p:txBody>
      </p:sp>
      <p:pic>
        <p:nvPicPr>
          <p:cNvPr id="10" name="Image 9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6BAFEAA-8B2C-108A-34EE-1CBE9DD6A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55" y="1271929"/>
            <a:ext cx="7772400" cy="52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FE1F-8368-96DC-048D-95967C13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C8941A-09CF-7ECB-C575-FB15527D7A46}"/>
              </a:ext>
            </a:extLst>
          </p:cNvPr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37FD5D-DEE8-B8C2-FD71-4DDFFDA6B6A9}"/>
              </a:ext>
            </a:extLst>
          </p:cNvPr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C8290-7F2F-0450-895A-F7412F41C527}"/>
              </a:ext>
            </a:extLst>
          </p:cNvPr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Observer l'impact en temps réel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719C0-8E88-E812-87DF-87E702D888DA}"/>
              </a:ext>
            </a:extLst>
          </p:cNvPr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Grafana expose tout — lag, débit, latence, taux de rejet, réplication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61B7E-2A9E-82C1-8B6E-0A7B925D1452}"/>
              </a:ext>
            </a:extLst>
          </p:cNvPr>
          <p:cNvSpPr/>
          <p:nvPr/>
        </p:nvSpPr>
        <p:spPr>
          <a:xfrm>
            <a:off x="365760" y="1371600"/>
            <a:ext cx="7863840" cy="4784942"/>
          </a:xfrm>
          <a:prstGeom prst="rect">
            <a:avLst/>
          </a:prstGeom>
          <a:solidFill>
            <a:srgbClr val="2A2A40"/>
          </a:solidFill>
          <a:ln w="1905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F63EF-38FB-D21D-E08A-185B9DB21E91}"/>
              </a:ext>
            </a:extLst>
          </p:cNvPr>
          <p:cNvSpPr txBox="1"/>
          <p:nvPr/>
        </p:nvSpPr>
        <p:spPr>
          <a:xfrm>
            <a:off x="365760" y="34975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BB"/>
                </a:solidFill>
              </a:rPr>
              <a:t>Dashboard Grafana
General / Kafka / Persistence / Incidents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98D1D-3F2F-E86D-37F4-56BE8BA6352A}"/>
              </a:ext>
            </a:extLst>
          </p:cNvPr>
          <p:cNvSpPr txBox="1"/>
          <p:nvPr/>
        </p:nvSpPr>
        <p:spPr>
          <a:xfrm>
            <a:off x="8503920" y="1463040"/>
            <a:ext cx="3474720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600" b="1" dirty="0">
                <a:solidFill>
                  <a:srgbClr val="E8602C"/>
                </a:solidFill>
              </a:rPr>
              <a:t>Persistance </a:t>
            </a:r>
            <a:r>
              <a:rPr lang="fr-FR" sz="1600" b="1" dirty="0" err="1">
                <a:solidFill>
                  <a:srgbClr val="E8602C"/>
                </a:solidFill>
              </a:rPr>
              <a:t>dashboard</a:t>
            </a:r>
            <a:endParaRPr sz="1600" b="1" dirty="0">
              <a:solidFill>
                <a:srgbClr val="E8602C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Lag </a:t>
            </a:r>
            <a:r>
              <a:rPr sz="1400" dirty="0" err="1">
                <a:solidFill>
                  <a:srgbClr val="FFFFFF"/>
                </a:solidFill>
              </a:rPr>
              <a:t>consommateur</a:t>
            </a:r>
            <a:r>
              <a:rPr sz="1400" dirty="0">
                <a:solidFill>
                  <a:srgbClr val="FFFFFF"/>
                </a:solidFill>
              </a:rPr>
              <a:t> par </a:t>
            </a:r>
            <a:r>
              <a:rPr sz="1400" dirty="0" err="1">
                <a:solidFill>
                  <a:srgbClr val="FFFFFF"/>
                </a:solidFill>
              </a:rPr>
              <a:t>groupe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Débit</a:t>
            </a:r>
            <a:r>
              <a:rPr sz="1400" dirty="0">
                <a:solidFill>
                  <a:srgbClr val="FFFFFF"/>
                </a:solidFill>
              </a:rPr>
              <a:t> production / </a:t>
            </a:r>
            <a:r>
              <a:rPr sz="1400" dirty="0" err="1">
                <a:solidFill>
                  <a:srgbClr val="FFFFFF"/>
                </a:solidFill>
              </a:rPr>
              <a:t>consommation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Latence</a:t>
            </a:r>
            <a:r>
              <a:rPr sz="1400" dirty="0">
                <a:solidFill>
                  <a:srgbClr val="FFFFFF"/>
                </a:solidFill>
              </a:rPr>
              <a:t> bout </a:t>
            </a:r>
            <a:r>
              <a:rPr sz="1400" dirty="0" err="1">
                <a:solidFill>
                  <a:srgbClr val="FFFFFF"/>
                </a:solidFill>
              </a:rPr>
              <a:t>en</a:t>
            </a:r>
            <a:r>
              <a:rPr sz="1400" dirty="0">
                <a:solidFill>
                  <a:srgbClr val="FFFFFF"/>
                </a:solidFill>
              </a:rPr>
              <a:t> bout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Taux</a:t>
            </a:r>
            <a:r>
              <a:rPr sz="1400" dirty="0">
                <a:solidFill>
                  <a:srgbClr val="FFFFFF"/>
                </a:solidFill>
              </a:rPr>
              <a:t> de </a:t>
            </a:r>
            <a:r>
              <a:rPr sz="1400" dirty="0" err="1">
                <a:solidFill>
                  <a:srgbClr val="FFFFFF"/>
                </a:solidFill>
              </a:rPr>
              <a:t>rejet</a:t>
            </a:r>
            <a:r>
              <a:rPr sz="1400" dirty="0">
                <a:solidFill>
                  <a:srgbClr val="FFFFFF"/>
                </a:solidFill>
              </a:rPr>
              <a:t> et motifs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Retard de </a:t>
            </a:r>
            <a:r>
              <a:rPr sz="1400" dirty="0" err="1">
                <a:solidFill>
                  <a:srgbClr val="FFFFFF"/>
                </a:solidFill>
              </a:rPr>
              <a:t>réplication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Fraîcheur</a:t>
            </a:r>
            <a:r>
              <a:rPr sz="1400" dirty="0">
                <a:solidFill>
                  <a:srgbClr val="FFFFFF"/>
                </a:solidFill>
              </a:rPr>
              <a:t> des </a:t>
            </a:r>
            <a:r>
              <a:rPr sz="1400" dirty="0" err="1">
                <a:solidFill>
                  <a:srgbClr val="FFFFFF"/>
                </a:solidFill>
              </a:rPr>
              <a:t>écritures</a:t>
            </a:r>
            <a:r>
              <a:rPr sz="1400" dirty="0">
                <a:solidFill>
                  <a:srgbClr val="FFFFFF"/>
                </a:solidFill>
              </a:rPr>
              <a:t> PostgreSQL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Ancienneté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estimée</a:t>
            </a:r>
            <a:r>
              <a:rPr sz="1400" dirty="0">
                <a:solidFill>
                  <a:srgbClr val="FFFFFF"/>
                </a:solidFill>
              </a:rPr>
              <a:t> du backlog</a:t>
            </a:r>
          </a:p>
        </p:txBody>
      </p:sp>
      <p:pic>
        <p:nvPicPr>
          <p:cNvPr id="10" name="Image 9" descr="Une image contenant texte, capture d’écran, diagramme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F1C23610-9873-E8FF-1A18-C3A9AD9E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8556"/>
            <a:ext cx="7772400" cy="467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14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22059-8981-2A9A-5BB7-01C09236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056DD6-0040-72D6-5E98-62FB97C23617}"/>
              </a:ext>
            </a:extLst>
          </p:cNvPr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669F07-3D08-F44B-9410-9E468320C64E}"/>
              </a:ext>
            </a:extLst>
          </p:cNvPr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AC7BC-6489-4386-0408-950C0C618372}"/>
              </a:ext>
            </a:extLst>
          </p:cNvPr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Observer l'impact en temps réel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39636-1A06-32DC-2F51-D6EC64A12428}"/>
              </a:ext>
            </a:extLst>
          </p:cNvPr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Grafana expose tout — lag, débit, latence, taux de rejet, réplication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8DAB6E-6D37-B54C-3699-548FBE53F9FA}"/>
              </a:ext>
            </a:extLst>
          </p:cNvPr>
          <p:cNvSpPr/>
          <p:nvPr/>
        </p:nvSpPr>
        <p:spPr>
          <a:xfrm>
            <a:off x="91439" y="2537306"/>
            <a:ext cx="12014966" cy="4139067"/>
          </a:xfrm>
          <a:prstGeom prst="rect">
            <a:avLst/>
          </a:prstGeom>
          <a:solidFill>
            <a:srgbClr val="2A2A40"/>
          </a:solidFill>
          <a:ln w="1905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B88A3-A9BC-559D-F201-CA588AD92017}"/>
              </a:ext>
            </a:extLst>
          </p:cNvPr>
          <p:cNvSpPr txBox="1"/>
          <p:nvPr/>
        </p:nvSpPr>
        <p:spPr>
          <a:xfrm>
            <a:off x="365760" y="34975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BB"/>
                </a:solidFill>
              </a:rPr>
              <a:t>Dashboard Grafana
General / Kafka / Persistence / Incidents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15BEFA-A167-3D90-9FAE-6123474870AF}"/>
              </a:ext>
            </a:extLst>
          </p:cNvPr>
          <p:cNvSpPr txBox="1"/>
          <p:nvPr/>
        </p:nvSpPr>
        <p:spPr>
          <a:xfrm>
            <a:off x="8583991" y="1913789"/>
            <a:ext cx="3474720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600" b="1" dirty="0">
                <a:solidFill>
                  <a:srgbClr val="E8602C"/>
                </a:solidFill>
              </a:rPr>
              <a:t>Incident </a:t>
            </a:r>
            <a:r>
              <a:rPr lang="fr-FR" sz="1600" b="1" dirty="0" err="1">
                <a:solidFill>
                  <a:srgbClr val="E8602C"/>
                </a:solidFill>
              </a:rPr>
              <a:t>dashboard</a:t>
            </a:r>
            <a:endParaRPr sz="1600" b="1" dirty="0">
              <a:solidFill>
                <a:srgbClr val="E8602C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Lag </a:t>
            </a:r>
            <a:r>
              <a:rPr sz="1400" dirty="0" err="1">
                <a:solidFill>
                  <a:srgbClr val="FFFFFF"/>
                </a:solidFill>
              </a:rPr>
              <a:t>consommateur</a:t>
            </a:r>
            <a:r>
              <a:rPr sz="1400" dirty="0">
                <a:solidFill>
                  <a:srgbClr val="FFFFFF"/>
                </a:solidFill>
              </a:rPr>
              <a:t> par </a:t>
            </a:r>
            <a:r>
              <a:rPr sz="1400" dirty="0" err="1">
                <a:solidFill>
                  <a:srgbClr val="FFFFFF"/>
                </a:solidFill>
              </a:rPr>
              <a:t>groupe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Débit</a:t>
            </a:r>
            <a:r>
              <a:rPr sz="1400" dirty="0">
                <a:solidFill>
                  <a:srgbClr val="FFFFFF"/>
                </a:solidFill>
              </a:rPr>
              <a:t> production / </a:t>
            </a:r>
            <a:r>
              <a:rPr sz="1400" dirty="0" err="1">
                <a:solidFill>
                  <a:srgbClr val="FFFFFF"/>
                </a:solidFill>
              </a:rPr>
              <a:t>consommation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Latence</a:t>
            </a:r>
            <a:r>
              <a:rPr sz="1400" dirty="0">
                <a:solidFill>
                  <a:srgbClr val="FFFFFF"/>
                </a:solidFill>
              </a:rPr>
              <a:t> bout </a:t>
            </a:r>
            <a:r>
              <a:rPr sz="1400" dirty="0" err="1">
                <a:solidFill>
                  <a:srgbClr val="FFFFFF"/>
                </a:solidFill>
              </a:rPr>
              <a:t>en</a:t>
            </a:r>
            <a:r>
              <a:rPr sz="1400" dirty="0">
                <a:solidFill>
                  <a:srgbClr val="FFFFFF"/>
                </a:solidFill>
              </a:rPr>
              <a:t> bout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Taux</a:t>
            </a:r>
            <a:r>
              <a:rPr sz="1400" dirty="0">
                <a:solidFill>
                  <a:srgbClr val="FFFFFF"/>
                </a:solidFill>
              </a:rPr>
              <a:t> de </a:t>
            </a:r>
            <a:r>
              <a:rPr sz="1400" dirty="0" err="1">
                <a:solidFill>
                  <a:srgbClr val="FFFFFF"/>
                </a:solidFill>
              </a:rPr>
              <a:t>rejet</a:t>
            </a:r>
            <a:r>
              <a:rPr sz="1400" dirty="0">
                <a:solidFill>
                  <a:srgbClr val="FFFFFF"/>
                </a:solidFill>
              </a:rPr>
              <a:t> et motifs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Retard de </a:t>
            </a:r>
            <a:r>
              <a:rPr sz="1400" dirty="0" err="1">
                <a:solidFill>
                  <a:srgbClr val="FFFFFF"/>
                </a:solidFill>
              </a:rPr>
              <a:t>réplication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Fraîcheur</a:t>
            </a:r>
            <a:r>
              <a:rPr sz="1400" dirty="0">
                <a:solidFill>
                  <a:srgbClr val="FFFFFF"/>
                </a:solidFill>
              </a:rPr>
              <a:t> des </a:t>
            </a:r>
            <a:r>
              <a:rPr sz="1400" dirty="0" err="1">
                <a:solidFill>
                  <a:srgbClr val="FFFFFF"/>
                </a:solidFill>
              </a:rPr>
              <a:t>écritures</a:t>
            </a:r>
            <a:r>
              <a:rPr sz="1400" dirty="0">
                <a:solidFill>
                  <a:srgbClr val="FFFFFF"/>
                </a:solidFill>
              </a:rPr>
              <a:t> PostgreSQL</a:t>
            </a:r>
          </a:p>
          <a:p>
            <a:pPr algn="l">
              <a:spcBef>
                <a:spcPts val="500"/>
              </a:spcBef>
            </a:pP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Ancienneté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estimée</a:t>
            </a:r>
            <a:r>
              <a:rPr sz="1400" dirty="0">
                <a:solidFill>
                  <a:srgbClr val="FFFFFF"/>
                </a:solidFill>
              </a:rPr>
              <a:t> du backlog</a:t>
            </a:r>
          </a:p>
        </p:txBody>
      </p:sp>
      <p:pic>
        <p:nvPicPr>
          <p:cNvPr id="10" name="Image 9" descr="Une image contenant capture d’écran, Logiciel multimédia, Logiciel de graphisme, diagramme&#10;&#10;Le contenu généré par l’IA peut être incorrect.">
            <a:extLst>
              <a:ext uri="{FF2B5EF4-FFF2-40B4-BE49-F238E27FC236}">
                <a16:creationId xmlns:a16="http://schemas.microsoft.com/office/drawing/2014/main" id="{AEF0544E-01DB-C762-AA49-1BFC32991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3" y="2560320"/>
            <a:ext cx="11928598" cy="406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80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Perturbations réseau contrôlées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Simuler des incidents réels sans toucher au code applicatif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120640" cy="18288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02C"/>
                </a:solidFill>
              </a:rPr>
              <a:t>Profils disponibles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kafka_latency    — latence ajoutée sur le lien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kafka_loss        — perte de paquets aléatoire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kafka_slow_link  — débit limité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29000"/>
            <a:ext cx="5120640" cy="18288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02C"/>
                </a:solidFill>
              </a:rPr>
              <a:t>Services ciblables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generator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pix-decision-engine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persister-valid / persister-rejected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463040"/>
            <a:ext cx="5989320" cy="379476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508760"/>
            <a:ext cx="56692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02C"/>
                </a:solidFill>
              </a:rPr>
              <a:t>Ce que l'étudiant observe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Lag consommateur augmente immédiatement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Commits Kafka ralentissent ou échouent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Doublons visibles en at-least-once sous perte de paquets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Transactions annulées en exactly-once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Différence entre panne franche et dégradation lente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  Reset immédiat — retour au nominal en une commande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Clé en main pour l'enseignant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566160" cy="1463040"/>
          </a:xfrm>
          <a:prstGeom prst="rect">
            <a:avLst/>
          </a:prstGeom>
          <a:solidFill>
            <a:srgbClr val="2A2A40"/>
          </a:solidFill>
          <a:ln w="1270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Démarrage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96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./start.sh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Stack complète lancée en une commande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3088" y="1005840"/>
            <a:ext cx="3566160" cy="1463040"/>
          </a:xfrm>
          <a:prstGeom prst="rect">
            <a:avLst/>
          </a:prstGeom>
          <a:solidFill>
            <a:srgbClr val="2A2A40"/>
          </a:solidFill>
          <a:ln w="1270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70248" y="1078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Reset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4996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./scripts/reset-scenario.sh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901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Remise à zéro propre entre deux groupes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46136" y="1005840"/>
            <a:ext cx="3566160" cy="1463040"/>
          </a:xfrm>
          <a:prstGeom prst="rect">
            <a:avLst/>
          </a:prstGeom>
          <a:solidFill>
            <a:srgbClr val="2A2A40"/>
          </a:solidFill>
          <a:ln w="1270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3296" y="1078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6 parties de 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4996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nominal → pic de football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901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Progression documentée pas à pas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70048"/>
            <a:ext cx="3566160" cy="1463040"/>
          </a:xfrm>
          <a:prstGeom prst="rect">
            <a:avLst/>
          </a:prstGeom>
          <a:solidFill>
            <a:srgbClr val="2A2A40"/>
          </a:solidFill>
          <a:ln w="1270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Atelier sémantiques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38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at-most / at-least / exactly-once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Comparaison directe des garanties Kafka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3088" y="2670048"/>
            <a:ext cx="3566160" cy="1463040"/>
          </a:xfrm>
          <a:prstGeom prst="rect">
            <a:avLst/>
          </a:prstGeom>
          <a:solidFill>
            <a:srgbClr val="2A2A40"/>
          </a:solidFill>
          <a:ln w="1270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70248" y="27432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Campagnes auto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1638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run_semantics_campaign.py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Résultats JSON/Excel reproductibles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6136" y="2670048"/>
            <a:ext cx="3566160" cy="1463040"/>
          </a:xfrm>
          <a:prstGeom prst="rect">
            <a:avLst/>
          </a:prstGeom>
          <a:solidFill>
            <a:srgbClr val="2A2A40"/>
          </a:solidFill>
          <a:ln w="1270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83296" y="27432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02C"/>
                </a:solidFill>
              </a:rPr>
              <a:t>Extensible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1638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topics, scénarios,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Architecture ouverte et documentée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908</Words>
  <Application>Microsoft Macintosh PowerPoint</Application>
  <PresentationFormat>Personnalisé</PresentationFormat>
  <Paragraphs>148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GUYOT LENAT</cp:lastModifiedBy>
  <cp:revision>5</cp:revision>
  <dcterms:created xsi:type="dcterms:W3CDTF">2013-01-27T09:14:16Z</dcterms:created>
  <dcterms:modified xsi:type="dcterms:W3CDTF">2026-05-20T13:48:27Z</dcterms:modified>
  <cp:category/>
</cp:coreProperties>
</file>